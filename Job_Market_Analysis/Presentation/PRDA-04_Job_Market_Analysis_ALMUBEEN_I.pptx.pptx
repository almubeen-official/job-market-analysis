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C8B4CC-7D20-4539-9845-FE1B10F98002}" v="13" dt="2026-09-17T12:13:47.5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mubeen8438@outlook.com" userId="07a6b5801611e49b" providerId="LiveId" clId="{D3C8B4CC-7D20-4539-9845-FE1B10F98002}"/>
    <pc:docChg chg="custSel addSld modSld">
      <pc:chgData name="almubeen8438@outlook.com" userId="07a6b5801611e49b" providerId="LiveId" clId="{D3C8B4CC-7D20-4539-9845-FE1B10F98002}" dt="2026-09-17T12:14:29.039" v="197" actId="1076"/>
      <pc:docMkLst>
        <pc:docMk/>
      </pc:docMkLst>
      <pc:sldChg chg="modSp mod">
        <pc:chgData name="almubeen8438@outlook.com" userId="07a6b5801611e49b" providerId="LiveId" clId="{D3C8B4CC-7D20-4539-9845-FE1B10F98002}" dt="2026-09-17T11:53:09.581" v="12" actId="255"/>
        <pc:sldMkLst>
          <pc:docMk/>
          <pc:sldMk cId="915842793" sldId="258"/>
        </pc:sldMkLst>
        <pc:spChg chg="mod">
          <ac:chgData name="almubeen8438@outlook.com" userId="07a6b5801611e49b" providerId="LiveId" clId="{D3C8B4CC-7D20-4539-9845-FE1B10F98002}" dt="2026-09-17T11:53:09.581" v="12" actId="255"/>
          <ac:spMkLst>
            <pc:docMk/>
            <pc:sldMk cId="915842793" sldId="258"/>
            <ac:spMk id="4" creationId="{4304CB1E-D9D0-6A7B-A4A3-B2095116B512}"/>
          </ac:spMkLst>
        </pc:spChg>
      </pc:sldChg>
      <pc:sldChg chg="modSp mod">
        <pc:chgData name="almubeen8438@outlook.com" userId="07a6b5801611e49b" providerId="LiveId" clId="{D3C8B4CC-7D20-4539-9845-FE1B10F98002}" dt="2026-09-17T11:52:33.912" v="6" actId="20577"/>
        <pc:sldMkLst>
          <pc:docMk/>
          <pc:sldMk cId="3988656730" sldId="259"/>
        </pc:sldMkLst>
        <pc:spChg chg="mod">
          <ac:chgData name="almubeen8438@outlook.com" userId="07a6b5801611e49b" providerId="LiveId" clId="{D3C8B4CC-7D20-4539-9845-FE1B10F98002}" dt="2026-09-17T11:52:33.912" v="6" actId="20577"/>
          <ac:spMkLst>
            <pc:docMk/>
            <pc:sldMk cId="3988656730" sldId="259"/>
            <ac:spMk id="3" creationId="{066962BE-C79F-22D9-FB16-9C85C7A517B0}"/>
          </ac:spMkLst>
        </pc:spChg>
      </pc:sldChg>
      <pc:sldChg chg="modSp mod">
        <pc:chgData name="almubeen8438@outlook.com" userId="07a6b5801611e49b" providerId="LiveId" clId="{D3C8B4CC-7D20-4539-9845-FE1B10F98002}" dt="2026-09-17T11:54:13.143" v="17" actId="113"/>
        <pc:sldMkLst>
          <pc:docMk/>
          <pc:sldMk cId="1304303751" sldId="260"/>
        </pc:sldMkLst>
        <pc:spChg chg="mod">
          <ac:chgData name="almubeen8438@outlook.com" userId="07a6b5801611e49b" providerId="LiveId" clId="{D3C8B4CC-7D20-4539-9845-FE1B10F98002}" dt="2026-09-17T11:54:13.143" v="17" actId="113"/>
          <ac:spMkLst>
            <pc:docMk/>
            <pc:sldMk cId="1304303751" sldId="260"/>
            <ac:spMk id="3" creationId="{312529AB-B750-0D95-AB26-C1AADFAB3DAD}"/>
          </ac:spMkLst>
        </pc:spChg>
      </pc:sldChg>
      <pc:sldChg chg="addSp delSp modSp mod">
        <pc:chgData name="almubeen8438@outlook.com" userId="07a6b5801611e49b" providerId="LiveId" clId="{D3C8B4CC-7D20-4539-9845-FE1B10F98002}" dt="2026-09-17T12:14:29.039" v="197" actId="1076"/>
        <pc:sldMkLst>
          <pc:docMk/>
          <pc:sldMk cId="3858758796" sldId="261"/>
        </pc:sldMkLst>
        <pc:spChg chg="mod">
          <ac:chgData name="almubeen8438@outlook.com" userId="07a6b5801611e49b" providerId="LiveId" clId="{D3C8B4CC-7D20-4539-9845-FE1B10F98002}" dt="2026-09-17T11:55:47.137" v="33" actId="20577"/>
          <ac:spMkLst>
            <pc:docMk/>
            <pc:sldMk cId="3858758796" sldId="261"/>
            <ac:spMk id="3" creationId="{B201D92D-3FFC-00DD-A52E-77C2A681B6D0}"/>
          </ac:spMkLst>
        </pc:spChg>
        <pc:spChg chg="del">
          <ac:chgData name="almubeen8438@outlook.com" userId="07a6b5801611e49b" providerId="LiveId" clId="{D3C8B4CC-7D20-4539-9845-FE1B10F98002}" dt="2026-09-17T11:54:33.962" v="18" actId="478"/>
          <ac:spMkLst>
            <pc:docMk/>
            <pc:sldMk cId="3858758796" sldId="261"/>
            <ac:spMk id="6" creationId="{12E1DD02-2CEF-7ABB-ED74-6B05FF7D476A}"/>
          </ac:spMkLst>
        </pc:spChg>
        <pc:picChg chg="add mod">
          <ac:chgData name="almubeen8438@outlook.com" userId="07a6b5801611e49b" providerId="LiveId" clId="{D3C8B4CC-7D20-4539-9845-FE1B10F98002}" dt="2026-09-17T12:14:29.039" v="197" actId="1076"/>
          <ac:picMkLst>
            <pc:docMk/>
            <pc:sldMk cId="3858758796" sldId="261"/>
            <ac:picMk id="6" creationId="{F6A4F513-DBCB-7983-699B-2E5E96CEA949}"/>
          </ac:picMkLst>
        </pc:picChg>
      </pc:sldChg>
      <pc:sldChg chg="modSp mod">
        <pc:chgData name="almubeen8438@outlook.com" userId="07a6b5801611e49b" providerId="LiveId" clId="{D3C8B4CC-7D20-4539-9845-FE1B10F98002}" dt="2026-09-17T11:56:21.270" v="45" actId="20577"/>
        <pc:sldMkLst>
          <pc:docMk/>
          <pc:sldMk cId="2007313804" sldId="262"/>
        </pc:sldMkLst>
        <pc:spChg chg="mod">
          <ac:chgData name="almubeen8438@outlook.com" userId="07a6b5801611e49b" providerId="LiveId" clId="{D3C8B4CC-7D20-4539-9845-FE1B10F98002}" dt="2026-09-17T11:56:21.270" v="45" actId="20577"/>
          <ac:spMkLst>
            <pc:docMk/>
            <pc:sldMk cId="2007313804" sldId="262"/>
            <ac:spMk id="3" creationId="{96DC666B-7849-C64B-3821-5DC4C0FD3054}"/>
          </ac:spMkLst>
        </pc:spChg>
      </pc:sldChg>
      <pc:sldChg chg="modSp mod">
        <pc:chgData name="almubeen8438@outlook.com" userId="07a6b5801611e49b" providerId="LiveId" clId="{D3C8B4CC-7D20-4539-9845-FE1B10F98002}" dt="2026-09-17T11:58:24.291" v="61" actId="1440"/>
        <pc:sldMkLst>
          <pc:docMk/>
          <pc:sldMk cId="108295415" sldId="263"/>
        </pc:sldMkLst>
        <pc:spChg chg="mod">
          <ac:chgData name="almubeen8438@outlook.com" userId="07a6b5801611e49b" providerId="LiveId" clId="{D3C8B4CC-7D20-4539-9845-FE1B10F98002}" dt="2026-09-17T11:57:23.914" v="49" actId="1076"/>
          <ac:spMkLst>
            <pc:docMk/>
            <pc:sldMk cId="108295415" sldId="263"/>
            <ac:spMk id="2" creationId="{BB203E2E-8565-47AA-A3E8-8E80EBCBDB0E}"/>
          </ac:spMkLst>
        </pc:spChg>
        <pc:spChg chg="mod">
          <ac:chgData name="almubeen8438@outlook.com" userId="07a6b5801611e49b" providerId="LiveId" clId="{D3C8B4CC-7D20-4539-9845-FE1B10F98002}" dt="2026-09-17T11:57:51.481" v="53" actId="1076"/>
          <ac:spMkLst>
            <pc:docMk/>
            <pc:sldMk cId="108295415" sldId="263"/>
            <ac:spMk id="8" creationId="{63A2ED66-4912-BB33-254F-0677B9161251}"/>
          </ac:spMkLst>
        </pc:spChg>
        <pc:picChg chg="mod">
          <ac:chgData name="almubeen8438@outlook.com" userId="07a6b5801611e49b" providerId="LiveId" clId="{D3C8B4CC-7D20-4539-9845-FE1B10F98002}" dt="2026-09-17T11:58:24.291" v="61" actId="1440"/>
          <ac:picMkLst>
            <pc:docMk/>
            <pc:sldMk cId="108295415" sldId="263"/>
            <ac:picMk id="10" creationId="{6B51D1B2-7597-A5F2-BDDB-435A5C50DFAE}"/>
          </ac:picMkLst>
        </pc:picChg>
      </pc:sldChg>
      <pc:sldChg chg="modSp mod">
        <pc:chgData name="almubeen8438@outlook.com" userId="07a6b5801611e49b" providerId="LiveId" clId="{D3C8B4CC-7D20-4539-9845-FE1B10F98002}" dt="2026-09-17T12:09:55.349" v="187" actId="1076"/>
        <pc:sldMkLst>
          <pc:docMk/>
          <pc:sldMk cId="459109924" sldId="264"/>
        </pc:sldMkLst>
        <pc:spChg chg="mod">
          <ac:chgData name="almubeen8438@outlook.com" userId="07a6b5801611e49b" providerId="LiveId" clId="{D3C8B4CC-7D20-4539-9845-FE1B10F98002}" dt="2026-09-17T12:09:55.349" v="187" actId="1076"/>
          <ac:spMkLst>
            <pc:docMk/>
            <pc:sldMk cId="459109924" sldId="264"/>
            <ac:spMk id="2" creationId="{EFD284B4-BB8E-AF59-F542-09C6CD318278}"/>
          </ac:spMkLst>
        </pc:spChg>
        <pc:spChg chg="mod">
          <ac:chgData name="almubeen8438@outlook.com" userId="07a6b5801611e49b" providerId="LiveId" clId="{D3C8B4CC-7D20-4539-9845-FE1B10F98002}" dt="2026-09-17T12:09:49.446" v="186" actId="207"/>
          <ac:spMkLst>
            <pc:docMk/>
            <pc:sldMk cId="459109924" sldId="264"/>
            <ac:spMk id="3" creationId="{AD44DDAB-BA67-0CC2-2E11-B3C0AA1DA84F}"/>
          </ac:spMkLst>
        </pc:spChg>
      </pc:sldChg>
      <pc:sldChg chg="modSp mod">
        <pc:chgData name="almubeen8438@outlook.com" userId="07a6b5801611e49b" providerId="LiveId" clId="{D3C8B4CC-7D20-4539-9845-FE1B10F98002}" dt="2026-09-17T11:59:10.959" v="66" actId="20577"/>
        <pc:sldMkLst>
          <pc:docMk/>
          <pc:sldMk cId="1945762512" sldId="265"/>
        </pc:sldMkLst>
        <pc:spChg chg="mod">
          <ac:chgData name="almubeen8438@outlook.com" userId="07a6b5801611e49b" providerId="LiveId" clId="{D3C8B4CC-7D20-4539-9845-FE1B10F98002}" dt="2026-09-17T11:59:10.959" v="66" actId="20577"/>
          <ac:spMkLst>
            <pc:docMk/>
            <pc:sldMk cId="1945762512" sldId="265"/>
            <ac:spMk id="4" creationId="{B9500E86-C5C0-7182-8981-316098D62A3C}"/>
          </ac:spMkLst>
        </pc:spChg>
      </pc:sldChg>
      <pc:sldChg chg="modSp mod">
        <pc:chgData name="almubeen8438@outlook.com" userId="07a6b5801611e49b" providerId="LiveId" clId="{D3C8B4CC-7D20-4539-9845-FE1B10F98002}" dt="2026-09-17T12:00:19.649" v="87" actId="20577"/>
        <pc:sldMkLst>
          <pc:docMk/>
          <pc:sldMk cId="3415370365" sldId="266"/>
        </pc:sldMkLst>
        <pc:spChg chg="mod">
          <ac:chgData name="almubeen8438@outlook.com" userId="07a6b5801611e49b" providerId="LiveId" clId="{D3C8B4CC-7D20-4539-9845-FE1B10F98002}" dt="2026-09-17T12:00:19.649" v="87" actId="20577"/>
          <ac:spMkLst>
            <pc:docMk/>
            <pc:sldMk cId="3415370365" sldId="266"/>
            <ac:spMk id="3" creationId="{1C9A0D0A-E02A-3B3B-5909-C92E53795D97}"/>
          </ac:spMkLst>
        </pc:spChg>
      </pc:sldChg>
      <pc:sldChg chg="modSp mod">
        <pc:chgData name="almubeen8438@outlook.com" userId="07a6b5801611e49b" providerId="LiveId" clId="{D3C8B4CC-7D20-4539-9845-FE1B10F98002}" dt="2026-09-17T12:00:43.906" v="101" actId="20577"/>
        <pc:sldMkLst>
          <pc:docMk/>
          <pc:sldMk cId="2927444618" sldId="267"/>
        </pc:sldMkLst>
        <pc:spChg chg="mod">
          <ac:chgData name="almubeen8438@outlook.com" userId="07a6b5801611e49b" providerId="LiveId" clId="{D3C8B4CC-7D20-4539-9845-FE1B10F98002}" dt="2026-09-17T12:00:43.906" v="101" actId="20577"/>
          <ac:spMkLst>
            <pc:docMk/>
            <pc:sldMk cId="2927444618" sldId="267"/>
            <ac:spMk id="5" creationId="{AE684442-9979-3AAB-5D04-2A9973B7EC76}"/>
          </ac:spMkLst>
        </pc:spChg>
      </pc:sldChg>
      <pc:sldChg chg="modSp mod">
        <pc:chgData name="almubeen8438@outlook.com" userId="07a6b5801611e49b" providerId="LiveId" clId="{D3C8B4CC-7D20-4539-9845-FE1B10F98002}" dt="2026-09-17T12:01:15.344" v="106" actId="20577"/>
        <pc:sldMkLst>
          <pc:docMk/>
          <pc:sldMk cId="3292696535" sldId="268"/>
        </pc:sldMkLst>
        <pc:spChg chg="mod">
          <ac:chgData name="almubeen8438@outlook.com" userId="07a6b5801611e49b" providerId="LiveId" clId="{D3C8B4CC-7D20-4539-9845-FE1B10F98002}" dt="2026-09-17T12:01:15.344" v="106" actId="20577"/>
          <ac:spMkLst>
            <pc:docMk/>
            <pc:sldMk cId="3292696535" sldId="268"/>
            <ac:spMk id="4" creationId="{7A7E3C57-A0D2-8DC0-FCED-B414F18CE72F}"/>
          </ac:spMkLst>
        </pc:spChg>
      </pc:sldChg>
      <pc:sldChg chg="modSp mod">
        <pc:chgData name="almubeen8438@outlook.com" userId="07a6b5801611e49b" providerId="LiveId" clId="{D3C8B4CC-7D20-4539-9845-FE1B10F98002}" dt="2026-09-17T12:04:32.575" v="162" actId="207"/>
        <pc:sldMkLst>
          <pc:docMk/>
          <pc:sldMk cId="4235502867" sldId="269"/>
        </pc:sldMkLst>
        <pc:spChg chg="mod">
          <ac:chgData name="almubeen8438@outlook.com" userId="07a6b5801611e49b" providerId="LiveId" clId="{D3C8B4CC-7D20-4539-9845-FE1B10F98002}" dt="2026-09-17T12:04:32.575" v="162" actId="207"/>
          <ac:spMkLst>
            <pc:docMk/>
            <pc:sldMk cId="4235502867" sldId="269"/>
            <ac:spMk id="4" creationId="{269D94B1-84E3-81FE-EE8A-78AAD76999E1}"/>
          </ac:spMkLst>
        </pc:spChg>
      </pc:sldChg>
      <pc:sldChg chg="modSp mod">
        <pc:chgData name="almubeen8438@outlook.com" userId="07a6b5801611e49b" providerId="LiveId" clId="{D3C8B4CC-7D20-4539-9845-FE1B10F98002}" dt="2026-09-17T12:05:32.994" v="163" actId="207"/>
        <pc:sldMkLst>
          <pc:docMk/>
          <pc:sldMk cId="294766742" sldId="270"/>
        </pc:sldMkLst>
        <pc:spChg chg="mod">
          <ac:chgData name="almubeen8438@outlook.com" userId="07a6b5801611e49b" providerId="LiveId" clId="{D3C8B4CC-7D20-4539-9845-FE1B10F98002}" dt="2026-09-17T12:05:32.994" v="163" actId="207"/>
          <ac:spMkLst>
            <pc:docMk/>
            <pc:sldMk cId="294766742" sldId="270"/>
            <ac:spMk id="7" creationId="{2B94237B-0C04-3705-D597-56A9F4E83686}"/>
          </ac:spMkLst>
        </pc:spChg>
      </pc:sldChg>
      <pc:sldChg chg="addSp modSp new mod">
        <pc:chgData name="almubeen8438@outlook.com" userId="07a6b5801611e49b" providerId="LiveId" clId="{D3C8B4CC-7D20-4539-9845-FE1B10F98002}" dt="2026-09-17T12:06:14.446" v="172" actId="1076"/>
        <pc:sldMkLst>
          <pc:docMk/>
          <pc:sldMk cId="2405668036" sldId="271"/>
        </pc:sldMkLst>
        <pc:spChg chg="add mod">
          <ac:chgData name="almubeen8438@outlook.com" userId="07a6b5801611e49b" providerId="LiveId" clId="{D3C8B4CC-7D20-4539-9845-FE1B10F98002}" dt="2026-09-17T12:06:14.446" v="172" actId="1076"/>
          <ac:spMkLst>
            <pc:docMk/>
            <pc:sldMk cId="2405668036" sldId="271"/>
            <ac:spMk id="2" creationId="{8E8CDA70-8730-E216-1D44-1C48E177C8D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FEA1C-62B8-4467-9F4B-F9EEEE154A2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4BFD2-5DCD-47B4-8CB8-EC4EB7C8D589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7095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FEA1C-62B8-4467-9F4B-F9EEEE154A2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4BFD2-5DCD-47B4-8CB8-EC4EB7C8D5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829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FEA1C-62B8-4467-9F4B-F9EEEE154A2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4BFD2-5DCD-47B4-8CB8-EC4EB7C8D5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578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FEA1C-62B8-4467-9F4B-F9EEEE154A2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4BFD2-5DCD-47B4-8CB8-EC4EB7C8D5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69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FEA1C-62B8-4467-9F4B-F9EEEE154A2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4BFD2-5DCD-47B4-8CB8-EC4EB7C8D5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345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FEA1C-62B8-4467-9F4B-F9EEEE154A2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4BFD2-5DCD-47B4-8CB8-EC4EB7C8D5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965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FEA1C-62B8-4467-9F4B-F9EEEE154A2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4BFD2-5DCD-47B4-8CB8-EC4EB7C8D5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923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FEA1C-62B8-4467-9F4B-F9EEEE154A2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4BFD2-5DCD-47B4-8CB8-EC4EB7C8D5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531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FEA1C-62B8-4467-9F4B-F9EEEE154A2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4BFD2-5DCD-47B4-8CB8-EC4EB7C8D5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848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FEA1C-62B8-4467-9F4B-F9EEEE154A2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4BFD2-5DCD-47B4-8CB8-EC4EB7C8D5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040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FEA1C-62B8-4467-9F4B-F9EEEE154A2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4BFD2-5DCD-47B4-8CB8-EC4EB7C8D5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0902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FEA1C-62B8-4467-9F4B-F9EEEE154A2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4BFD2-5DCD-47B4-8CB8-EC4EB7C8D589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63473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FEA1C-62B8-4467-9F4B-F9EEEE154A2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4BFD2-5DCD-47B4-8CB8-EC4EB7C8D5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12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FEA1C-62B8-4467-9F4B-F9EEEE154A2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4BFD2-5DCD-47B4-8CB8-EC4EB7C8D58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235027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FEA1C-62B8-4467-9F4B-F9EEEE154A2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4BFD2-5DCD-47B4-8CB8-EC4EB7C8D5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3492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FEA1C-62B8-4467-9F4B-F9EEEE154A2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4BFD2-5DCD-47B4-8CB8-EC4EB7C8D5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84304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FEA1C-62B8-4467-9F4B-F9EEEE154A2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4BFD2-5DCD-47B4-8CB8-EC4EB7C8D5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588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24FEA1C-62B8-4467-9F4B-F9EEEE154A2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234BFD2-5DCD-47B4-8CB8-EC4EB7C8D5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3296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4295F6-D178-7C3E-25F7-1216B0EE0006}"/>
              </a:ext>
            </a:extLst>
          </p:cNvPr>
          <p:cNvSpPr txBox="1"/>
          <p:nvPr/>
        </p:nvSpPr>
        <p:spPr>
          <a:xfrm>
            <a:off x="3106995" y="588629"/>
            <a:ext cx="6305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JOB MARKET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6962BE-C79F-22D9-FB16-9C85C7A517B0}"/>
              </a:ext>
            </a:extLst>
          </p:cNvPr>
          <p:cNvSpPr txBox="1"/>
          <p:nvPr/>
        </p:nvSpPr>
        <p:spPr>
          <a:xfrm>
            <a:off x="210468" y="1843549"/>
            <a:ext cx="671639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PRDA-04 — Data Science Job Market Analysis</a:t>
            </a:r>
            <a:endParaRPr lang="en-IN" sz="2000" b="1" dirty="0">
              <a:solidFill>
                <a:schemeClr val="bg2">
                  <a:lumMod val="50000"/>
                </a:schemeClr>
              </a:solidFill>
              <a:latin typeface="Arial Black" panose="020B0A04020102020204" pitchFamily="34" charset="0"/>
              <a:ea typeface="Segoe UI Black" panose="020B0A02040204020203" pitchFamily="34" charset="0"/>
              <a:cs typeface="Segoe UI Semilight" panose="020B0402040204020203" pitchFamily="34" charset="0"/>
            </a:endParaRPr>
          </a:p>
          <a:p>
            <a:pPr algn="ctr"/>
            <a:r>
              <a:rPr lang="en-IN" sz="2000" b="1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Course:</a:t>
            </a:r>
            <a:br>
              <a:rPr lang="en-IN" sz="2000" b="1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</a:br>
            <a:r>
              <a:rPr lang="en-IN" sz="2000" b="1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Certified Data Analyst (CDA)</a:t>
            </a:r>
          </a:p>
          <a:p>
            <a:pPr algn="ctr"/>
            <a:endParaRPr lang="en-IN" sz="2000" b="1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 Semilight" panose="020B0402040204020203" pitchFamily="34" charset="0"/>
            </a:endParaRPr>
          </a:p>
          <a:p>
            <a:pPr algn="ctr"/>
            <a:r>
              <a:rPr lang="en-IN" sz="2000" b="1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Organization:</a:t>
            </a:r>
            <a:br>
              <a:rPr lang="en-IN" sz="2000" b="1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</a:br>
            <a:r>
              <a:rPr lang="en-IN" sz="2000" b="1" dirty="0" err="1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DataMites</a:t>
            </a:r>
            <a:endParaRPr lang="en-IN" sz="2000" b="1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 Semilight" panose="020B0402040204020203" pitchFamily="34" charset="0"/>
            </a:endParaRPr>
          </a:p>
          <a:p>
            <a:pPr algn="ctr"/>
            <a:endParaRPr lang="en-IN" sz="2000" b="1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 Semilight" panose="020B0402040204020203" pitchFamily="34" charset="0"/>
            </a:endParaRPr>
          </a:p>
          <a:p>
            <a:pPr algn="ctr"/>
            <a:r>
              <a:rPr lang="en-IN" sz="2000" b="1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Tools Used:</a:t>
            </a:r>
            <a:br>
              <a:rPr lang="en-IN" sz="2000" b="1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</a:br>
            <a:r>
              <a:rPr lang="en-IN" sz="2000" b="1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MySQL | Python | Pandas | Power BI</a:t>
            </a:r>
          </a:p>
          <a:p>
            <a:pPr algn="ctr"/>
            <a:endParaRPr lang="en-IN" sz="2000" b="1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 Semilight" panose="020B0402040204020203" pitchFamily="34" charset="0"/>
            </a:endParaRPr>
          </a:p>
          <a:p>
            <a:pPr algn="ctr"/>
            <a:r>
              <a:rPr lang="en-IN" sz="2000" b="1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Dataset:</a:t>
            </a:r>
            <a:br>
              <a:rPr lang="en-IN" sz="2000" b="1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</a:br>
            <a:r>
              <a:rPr lang="en-IN" sz="2000" b="1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742 Job Postings | 42 Features</a:t>
            </a:r>
          </a:p>
          <a:p>
            <a:pPr algn="ctr"/>
            <a:endParaRPr lang="en-IN" sz="2000" b="1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 Semilight" panose="020B0402040204020203" pitchFamily="34" charset="0"/>
            </a:endParaRPr>
          </a:p>
          <a:p>
            <a:pPr algn="ctr"/>
            <a:endParaRPr lang="en-IN" sz="2000" b="1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8103F7-B39A-4621-4584-934871829CDE}"/>
              </a:ext>
            </a:extLst>
          </p:cNvPr>
          <p:cNvSpPr txBox="1"/>
          <p:nvPr/>
        </p:nvSpPr>
        <p:spPr>
          <a:xfrm>
            <a:off x="9606116" y="5892894"/>
            <a:ext cx="21778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Presented by:</a:t>
            </a:r>
            <a:endParaRPr lang="en-IN" dirty="0">
              <a:solidFill>
                <a:schemeClr val="bg1">
                  <a:lumMod val="95000"/>
                  <a:lumOff val="5000"/>
                </a:schemeClr>
              </a:solidFill>
              <a:latin typeface="Arial Black" panose="020B0A04020102020204" pitchFamily="34" charset="0"/>
            </a:endParaRPr>
          </a:p>
          <a:p>
            <a:r>
              <a:rPr lang="en-IN" b="1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ALMUBEEN 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1C5C7F-5F1D-0D53-2DF2-7C7F0FDF6C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211" y="1843549"/>
            <a:ext cx="6021321" cy="344075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988656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707549E-FB4F-7D2F-5CE8-FA9E2DC11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052" y="1437323"/>
            <a:ext cx="5867375" cy="4420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Data Science job demand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 salaries across locations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leading companies and industries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technical skill requirements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Study education and seniority patterns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an interactive Power BI dashboard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04CB1E-D9D0-6A7B-A4A3-B2095116B512}"/>
              </a:ext>
            </a:extLst>
          </p:cNvPr>
          <p:cNvSpPr txBox="1"/>
          <p:nvPr/>
        </p:nvSpPr>
        <p:spPr>
          <a:xfrm>
            <a:off x="2625213" y="737419"/>
            <a:ext cx="5968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Why Analyze the Job Market?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C830CD-C790-7130-A89A-A2107053A21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5935" y="1710767"/>
            <a:ext cx="5200876" cy="40147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915842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64E3DA-5C68-5C59-A671-64E757642A3B}"/>
              </a:ext>
            </a:extLst>
          </p:cNvPr>
          <p:cNvSpPr txBox="1"/>
          <p:nvPr/>
        </p:nvSpPr>
        <p:spPr>
          <a:xfrm>
            <a:off x="2379406" y="596533"/>
            <a:ext cx="52456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PROBLEM &amp; 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2529AB-B750-0D95-AB26-C1AADFAB3DAD}"/>
              </a:ext>
            </a:extLst>
          </p:cNvPr>
          <p:cNvSpPr txBox="1"/>
          <p:nvPr/>
        </p:nvSpPr>
        <p:spPr>
          <a:xfrm>
            <a:off x="1337187" y="1628045"/>
            <a:ext cx="85523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Raw job-posting data contains many variables, making key market </a:t>
            </a:r>
          </a:p>
          <a:p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patterns difficult to identify.</a:t>
            </a:r>
            <a:endParaRPr lang="en-IN" sz="2000" b="1" dirty="0">
              <a:solidFill>
                <a:schemeClr val="bg2">
                  <a:lumMod val="50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9C94B5-F474-FE51-CAD1-2F298CF5D009}"/>
              </a:ext>
            </a:extLst>
          </p:cNvPr>
          <p:cNvSpPr txBox="1"/>
          <p:nvPr/>
        </p:nvSpPr>
        <p:spPr>
          <a:xfrm>
            <a:off x="1130710" y="2782668"/>
            <a:ext cx="5923416" cy="2776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Job Demand → Locations, companies, industries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Salary → Location, title, education, seniority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Skills → Most requested technical skills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Insights → Identify useful market patterns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Dashboard → Interactive Power BI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F583D9-06D5-44C4-6639-BE65DE5AEC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501" y="3046604"/>
            <a:ext cx="5403737" cy="3020437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304303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0FF4BC-74A3-E9A0-8478-782945131BF8}"/>
              </a:ext>
            </a:extLst>
          </p:cNvPr>
          <p:cNvSpPr txBox="1"/>
          <p:nvPr/>
        </p:nvSpPr>
        <p:spPr>
          <a:xfrm>
            <a:off x="4385187" y="521110"/>
            <a:ext cx="19956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DATASET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01D92D-3FFC-00DD-A52E-77C2A681B6D0}"/>
              </a:ext>
            </a:extLst>
          </p:cNvPr>
          <p:cNvSpPr txBox="1"/>
          <p:nvPr/>
        </p:nvSpPr>
        <p:spPr>
          <a:xfrm>
            <a:off x="1347020" y="1443841"/>
            <a:ext cx="5375189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742</a:t>
            </a:r>
            <a:b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Job Postings</a:t>
            </a:r>
          </a:p>
          <a:p>
            <a:endParaRPr lang="en-US" sz="20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42</a:t>
            </a:r>
            <a:b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Features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0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Science</a:t>
            </a:r>
            <a:b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Job Market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0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$K</a:t>
            </a:r>
            <a:b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$K → Salary Unit (Thousands of Dollars)</a:t>
            </a:r>
            <a:endParaRPr lang="en-US" sz="20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-1</a:t>
            </a:r>
            <a:b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Unavailable value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6828CE-8692-F5C1-638D-054942323974}"/>
              </a:ext>
            </a:extLst>
          </p:cNvPr>
          <p:cNvSpPr txBox="1"/>
          <p:nvPr/>
        </p:nvSpPr>
        <p:spPr>
          <a:xfrm>
            <a:off x="757084" y="5892524"/>
            <a:ext cx="100944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Major Features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Job Information | Salary | Company | Location | Industry | Skills | Education | Seniority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A4F513-DBCB-7983-699B-2E5E96CEA9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4299" y="942396"/>
            <a:ext cx="5749419" cy="357061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858758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08BA3F-7D59-938B-D45E-2ABCD3054C92}"/>
              </a:ext>
            </a:extLst>
          </p:cNvPr>
          <p:cNvSpPr txBox="1"/>
          <p:nvPr/>
        </p:nvSpPr>
        <p:spPr>
          <a:xfrm>
            <a:off x="2920180" y="412955"/>
            <a:ext cx="52782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latin typeface="Arial Black" panose="020B0A04020102020204" pitchFamily="34" charset="0"/>
              </a:rPr>
              <a:t>TOOLS &amp; TECHNOLOGIES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DC666B-7849-C64B-3821-5DC4C0FD3054}"/>
              </a:ext>
            </a:extLst>
          </p:cNvPr>
          <p:cNvSpPr txBox="1"/>
          <p:nvPr/>
        </p:nvSpPr>
        <p:spPr>
          <a:xfrm>
            <a:off x="2172929" y="1809135"/>
            <a:ext cx="7755649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USED</a:t>
            </a:r>
          </a:p>
          <a:p>
            <a:pPr lvl="1"/>
            <a:endParaRPr lang="en-US" sz="2000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MySQL</a:t>
            </a:r>
          </a:p>
          <a:p>
            <a:pPr lvl="2"/>
            <a:r>
              <a:rPr lang="en-US" sz="2000" b="1" dirty="0">
                <a:solidFill>
                  <a:srgbClr val="FFFF00"/>
                </a:solidFill>
              </a:rPr>
              <a:t>Database querying and structured analysis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en-US" sz="2000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Python</a:t>
            </a:r>
          </a:p>
          <a:p>
            <a:pPr lvl="2"/>
            <a:r>
              <a:rPr lang="en-US" sz="2000" b="1" dirty="0">
                <a:solidFill>
                  <a:srgbClr val="FFFF00"/>
                </a:solidFill>
              </a:rPr>
              <a:t>Data extraction and analysis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en-US" sz="2000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Pandas</a:t>
            </a:r>
          </a:p>
          <a:p>
            <a:pPr lvl="2"/>
            <a:r>
              <a:rPr lang="en-US" sz="2000" b="1" dirty="0">
                <a:solidFill>
                  <a:srgbClr val="FFFF00"/>
                </a:solidFill>
              </a:rPr>
              <a:t>Data cleaning and transformation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en-US" sz="2000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Power BI</a:t>
            </a:r>
          </a:p>
          <a:p>
            <a:pPr lvl="1"/>
            <a:r>
              <a:rPr lang="en-US" sz="2000" b="1" dirty="0">
                <a:solidFill>
                  <a:srgbClr val="FFFF00"/>
                </a:solidFill>
              </a:rPr>
              <a:t>	Interactive visualization and dashboard development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07313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203E2E-8565-47AA-A3E8-8E80EBCBDB0E}"/>
              </a:ext>
            </a:extLst>
          </p:cNvPr>
          <p:cNvSpPr txBox="1"/>
          <p:nvPr/>
        </p:nvSpPr>
        <p:spPr>
          <a:xfrm>
            <a:off x="2379406" y="823449"/>
            <a:ext cx="3894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Arial Black" panose="020B0A04020102020204" pitchFamily="34" charset="0"/>
              </a:rPr>
              <a:t>DATA CLEANING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63A2ED66-4912-BB33-254F-0677B9161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484" y="3097165"/>
            <a:ext cx="6490879" cy="2222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Checked data types and structure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Identified unavailable values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Excluded unavailable salary values from calculations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Prepared categorical and skill fields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51D1B2-7597-A5F2-BDDB-435A5C50DF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284" y="1538752"/>
            <a:ext cx="5496232" cy="45339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08295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D284B4-BB8E-AF59-F542-09C6CD318278}"/>
              </a:ext>
            </a:extLst>
          </p:cNvPr>
          <p:cNvSpPr txBox="1"/>
          <p:nvPr/>
        </p:nvSpPr>
        <p:spPr>
          <a:xfrm>
            <a:off x="3316225" y="678427"/>
            <a:ext cx="49220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SQL-BASED DATA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44DDAB-BA67-0CC2-2E11-B3C0AA1DA84F}"/>
              </a:ext>
            </a:extLst>
          </p:cNvPr>
          <p:cNvSpPr txBox="1"/>
          <p:nvPr/>
        </p:nvSpPr>
        <p:spPr>
          <a:xfrm>
            <a:off x="1612490" y="1779639"/>
            <a:ext cx="8329524" cy="47138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Database Analysis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FF00"/>
                </a:solidFill>
              </a:rPr>
              <a:t>Retrieved and analyzed </a:t>
            </a:r>
            <a:r>
              <a:rPr lang="en-US" b="1" dirty="0">
                <a:solidFill>
                  <a:srgbClr val="FFFF00"/>
                </a:solidFill>
              </a:rPr>
              <a:t>742 job postings</a:t>
            </a:r>
            <a:r>
              <a:rPr lang="en-US" dirty="0">
                <a:solidFill>
                  <a:srgbClr val="FFFF00"/>
                </a:solidFill>
              </a:rPr>
              <a:t> from MySQL 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FF00"/>
                </a:solidFill>
              </a:rPr>
              <a:t>Examined </a:t>
            </a:r>
            <a:r>
              <a:rPr lang="en-US" b="1" dirty="0">
                <a:solidFill>
                  <a:srgbClr val="FFFF00"/>
                </a:solidFill>
              </a:rPr>
              <a:t>42 data features</a:t>
            </a:r>
            <a:r>
              <a:rPr lang="en-US" dirty="0">
                <a:solidFill>
                  <a:srgbClr val="FFFF00"/>
                </a:solidFill>
              </a:rPr>
              <a:t> across the job-market dataset 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FF00"/>
                </a:solidFill>
              </a:rPr>
              <a:t>Analyzed </a:t>
            </a:r>
            <a:r>
              <a:rPr lang="en-US" b="1" dirty="0">
                <a:solidFill>
                  <a:srgbClr val="FFFF00"/>
                </a:solidFill>
              </a:rPr>
              <a:t>job demand by location</a:t>
            </a:r>
            <a:r>
              <a:rPr lang="en-US" dirty="0">
                <a:solidFill>
                  <a:srgbClr val="FFFF00"/>
                </a:solidFill>
              </a:rPr>
              <a:t> 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FF00"/>
                </a:solidFill>
              </a:rPr>
              <a:t>Compared </a:t>
            </a:r>
            <a:r>
              <a:rPr lang="en-US" b="1" dirty="0">
                <a:solidFill>
                  <a:srgbClr val="FFFF00"/>
                </a:solidFill>
              </a:rPr>
              <a:t>salary ranges and average salaries</a:t>
            </a:r>
            <a:r>
              <a:rPr lang="en-US" dirty="0">
                <a:solidFill>
                  <a:srgbClr val="FFFF00"/>
                </a:solidFill>
              </a:rPr>
              <a:t> 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FF00"/>
                </a:solidFill>
              </a:rPr>
              <a:t>Identified </a:t>
            </a:r>
            <a:r>
              <a:rPr lang="en-US" b="1" dirty="0">
                <a:solidFill>
                  <a:srgbClr val="FFFF00"/>
                </a:solidFill>
              </a:rPr>
              <a:t>leading industries and hiring companies</a:t>
            </a:r>
            <a:r>
              <a:rPr lang="en-US" dirty="0">
                <a:solidFill>
                  <a:srgbClr val="FFFF00"/>
                </a:solidFill>
              </a:rPr>
              <a:t> 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FF00"/>
                </a:solidFill>
              </a:rPr>
              <a:t>Analyzed </a:t>
            </a:r>
            <a:r>
              <a:rPr lang="en-US" b="1" dirty="0">
                <a:solidFill>
                  <a:srgbClr val="FFFF00"/>
                </a:solidFill>
              </a:rPr>
              <a:t>popular job titles and required skills</a:t>
            </a:r>
            <a:r>
              <a:rPr lang="en-US" dirty="0">
                <a:solidFill>
                  <a:srgbClr val="FFFF00"/>
                </a:solidFill>
              </a:rPr>
              <a:t> 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FF00"/>
                </a:solidFill>
              </a:rPr>
              <a:t>Evaluated </a:t>
            </a:r>
            <a:r>
              <a:rPr lang="en-US" b="1" dirty="0">
                <a:solidFill>
                  <a:srgbClr val="FFFF00"/>
                </a:solidFill>
              </a:rPr>
              <a:t>education and seniority patterns</a:t>
            </a:r>
            <a:r>
              <a:rPr lang="en-US" dirty="0">
                <a:solidFill>
                  <a:srgbClr val="FFFF00"/>
                </a:solidFill>
              </a:rPr>
              <a:t> 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FF00"/>
                </a:solidFill>
              </a:rPr>
              <a:t>Performed </a:t>
            </a:r>
            <a:r>
              <a:rPr lang="en-US" b="1" dirty="0">
                <a:solidFill>
                  <a:srgbClr val="FFFF00"/>
                </a:solidFill>
              </a:rPr>
              <a:t>data-quality checks</a:t>
            </a:r>
            <a:r>
              <a:rPr lang="en-US" dirty="0">
                <a:solidFill>
                  <a:srgbClr val="FFFF00"/>
                </a:solidFill>
              </a:rPr>
              <a:t> for missing and unavailable values</a:t>
            </a:r>
          </a:p>
        </p:txBody>
      </p:sp>
    </p:spTree>
    <p:extLst>
      <p:ext uri="{BB962C8B-B14F-4D97-AF65-F5344CB8AC3E}">
        <p14:creationId xmlns:p14="http://schemas.microsoft.com/office/powerpoint/2010/main" val="459109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5D26E2-AAF9-FEB0-371F-5BEC70A2C4E3}"/>
              </a:ext>
            </a:extLst>
          </p:cNvPr>
          <p:cNvSpPr txBox="1"/>
          <p:nvPr/>
        </p:nvSpPr>
        <p:spPr>
          <a:xfrm>
            <a:off x="2190378" y="666434"/>
            <a:ext cx="6159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latin typeface="Arial Black" panose="020B0A04020102020204" pitchFamily="34" charset="0"/>
              </a:rPr>
              <a:t>PYTHON &amp; PANDAS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500E86-C5C0-7182-8981-316098D62A3C}"/>
              </a:ext>
            </a:extLst>
          </p:cNvPr>
          <p:cNvSpPr txBox="1"/>
          <p:nvPr/>
        </p:nvSpPr>
        <p:spPr>
          <a:xfrm>
            <a:off x="749665" y="2623491"/>
            <a:ext cx="6102953" cy="36706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Extracted job-market data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Performed data cleaning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Conducted exploratory data analysis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Generated analytical tables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Created visualizations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A2572C-2C2A-25FA-DC3B-8B404752EF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097" y="2809567"/>
            <a:ext cx="4913520" cy="388128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337E2F-E055-9579-AC24-0F562143A63A}"/>
              </a:ext>
            </a:extLst>
          </p:cNvPr>
          <p:cNvSpPr txBox="1"/>
          <p:nvPr/>
        </p:nvSpPr>
        <p:spPr>
          <a:xfrm>
            <a:off x="956385" y="1750143"/>
            <a:ext cx="73933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50000"/>
                  </a:schemeClr>
                </a:solidFill>
              </a:rPr>
              <a:t>MySQL → Python → Pandas → Analysis → Charts</a:t>
            </a:r>
            <a:endParaRPr lang="en-IN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762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8D8F82-2075-A03D-D6F9-B35AE31EB73E}"/>
              </a:ext>
            </a:extLst>
          </p:cNvPr>
          <p:cNvSpPr txBox="1"/>
          <p:nvPr/>
        </p:nvSpPr>
        <p:spPr>
          <a:xfrm>
            <a:off x="1723424" y="513815"/>
            <a:ext cx="87451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POWER BI — JOB MARKET OVERVIEW</a:t>
            </a:r>
            <a:endParaRPr lang="en-IN" sz="32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9A0D0A-E02A-3B3B-5909-C92E53795D97}"/>
              </a:ext>
            </a:extLst>
          </p:cNvPr>
          <p:cNvSpPr txBox="1"/>
          <p:nvPr/>
        </p:nvSpPr>
        <p:spPr>
          <a:xfrm>
            <a:off x="373625" y="1641187"/>
            <a:ext cx="3086101" cy="52168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Key Metrics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FF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742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rgbClr val="FFFF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	Job Postings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FF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$128.21K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rgbClr val="FFFF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Maximum Salary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FF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$74.75K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rgbClr val="FFFF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	Minimum Salary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FF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$75K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rgbClr val="FFFF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	Average Salary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FF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3.62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rgbClr val="FFFF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	Company Rating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9049B9-B31D-E69B-E88C-D0EB0A0941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5224" y="1546028"/>
            <a:ext cx="7771578" cy="43364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415370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91D522-577B-99C6-F324-672EB114302A}"/>
              </a:ext>
            </a:extLst>
          </p:cNvPr>
          <p:cNvSpPr txBox="1"/>
          <p:nvPr/>
        </p:nvSpPr>
        <p:spPr>
          <a:xfrm>
            <a:off x="1651820" y="311058"/>
            <a:ext cx="72916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POWER BI — SALARY &amp; SKILLS ANALYSIS</a:t>
            </a:r>
            <a:endParaRPr lang="en-I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557A19-FB3C-EC64-844C-BF64A983DF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1001" y="943446"/>
            <a:ext cx="7153512" cy="541668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684442-9979-3AAB-5D04-2A9973B7EC76}"/>
              </a:ext>
            </a:extLst>
          </p:cNvPr>
          <p:cNvSpPr txBox="1"/>
          <p:nvPr/>
        </p:nvSpPr>
        <p:spPr>
          <a:xfrm>
            <a:off x="631888" y="2163097"/>
            <a:ext cx="4086375" cy="3508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Analysis Covered</a:t>
            </a:r>
            <a:endParaRPr lang="en-US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742950" lvl="1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FF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Average Salary by Location </a:t>
            </a:r>
          </a:p>
          <a:p>
            <a:pPr marL="742950" lvl="1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FF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Skill Demand </a:t>
            </a:r>
          </a:p>
          <a:p>
            <a:pPr marL="742950" lvl="1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FF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Salary by Education </a:t>
            </a:r>
          </a:p>
          <a:p>
            <a:pPr marL="742950" lvl="1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FF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Salary by Seniority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7444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AA7B37-D1B1-3C12-2A49-0B25846953B8}"/>
              </a:ext>
            </a:extLst>
          </p:cNvPr>
          <p:cNvSpPr txBox="1"/>
          <p:nvPr/>
        </p:nvSpPr>
        <p:spPr>
          <a:xfrm>
            <a:off x="3923070" y="609600"/>
            <a:ext cx="31005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latin typeface="Arial Black" panose="020B0A04020102020204" pitchFamily="34" charset="0"/>
              </a:rPr>
              <a:t>KEY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7E3C57-A0D2-8DC0-FCED-B414F18CE72F}"/>
              </a:ext>
            </a:extLst>
          </p:cNvPr>
          <p:cNvSpPr txBox="1"/>
          <p:nvPr/>
        </p:nvSpPr>
        <p:spPr>
          <a:xfrm>
            <a:off x="1401097" y="1712618"/>
            <a:ext cx="610583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bg1"/>
                </a:solidFill>
              </a:rPr>
              <a:t>Job Demand</a:t>
            </a:r>
          </a:p>
          <a:p>
            <a:r>
              <a:rPr lang="en-US" b="1" dirty="0"/>
              <a:t>	</a:t>
            </a:r>
            <a:r>
              <a:rPr lang="en-US" b="1" dirty="0">
                <a:solidFill>
                  <a:srgbClr val="FFFF00"/>
                </a:solidFill>
              </a:rPr>
              <a:t>California (CA) has the highest number of job 	postings, with 152 postings.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bg1"/>
                </a:solidFill>
              </a:rPr>
              <a:t>Skill Demand</a:t>
            </a:r>
          </a:p>
          <a:p>
            <a:r>
              <a:rPr lang="en-US" b="1" dirty="0"/>
              <a:t>	</a:t>
            </a:r>
            <a:r>
              <a:rPr lang="en-US" b="1" dirty="0">
                <a:solidFill>
                  <a:srgbClr val="FFFF00"/>
                </a:solidFill>
              </a:rPr>
              <a:t>Python — 392 postings</a:t>
            </a:r>
            <a:endParaRPr lang="en-US" dirty="0">
              <a:solidFill>
                <a:srgbClr val="FFFF00"/>
              </a:solidFill>
            </a:endParaRPr>
          </a:p>
          <a:p>
            <a:r>
              <a:rPr lang="en-US" b="1" dirty="0">
                <a:solidFill>
                  <a:srgbClr val="FFFF00"/>
                </a:solidFill>
              </a:rPr>
              <a:t>	Excel — 388 postings</a:t>
            </a:r>
            <a:endParaRPr lang="en-US" dirty="0">
              <a:solidFill>
                <a:srgbClr val="FFFF00"/>
              </a:solidFill>
            </a:endParaRPr>
          </a:p>
          <a:p>
            <a:r>
              <a:rPr lang="en-US" b="1" dirty="0">
                <a:solidFill>
                  <a:srgbClr val="FFFF00"/>
                </a:solidFill>
              </a:rPr>
              <a:t>	SQL — 380 postings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bg1"/>
                </a:solidFill>
              </a:rPr>
              <a:t>Cloud &amp; Big Data</a:t>
            </a:r>
          </a:p>
          <a:p>
            <a:r>
              <a:rPr lang="en-US" b="1" dirty="0"/>
              <a:t>	</a:t>
            </a:r>
            <a:r>
              <a:rPr lang="en-US" b="1" dirty="0">
                <a:solidFill>
                  <a:srgbClr val="FFFF00"/>
                </a:solidFill>
              </a:rPr>
              <a:t>AWS — 176 postings</a:t>
            </a:r>
            <a:endParaRPr lang="en-US" dirty="0">
              <a:solidFill>
                <a:srgbClr val="FFFF00"/>
              </a:solidFill>
            </a:endParaRPr>
          </a:p>
          <a:p>
            <a:r>
              <a:rPr lang="en-US" b="1" dirty="0">
                <a:solidFill>
                  <a:srgbClr val="FFFF00"/>
                </a:solidFill>
              </a:rPr>
              <a:t>	Spark — 167 postings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bg1"/>
                </a:solidFill>
              </a:rPr>
              <a:t>Salary</a:t>
            </a:r>
          </a:p>
          <a:p>
            <a:r>
              <a:rPr lang="en-US" b="1" dirty="0"/>
              <a:t>	</a:t>
            </a:r>
            <a:r>
              <a:rPr lang="en-US" b="1" dirty="0">
                <a:solidFill>
                  <a:srgbClr val="FFFF00"/>
                </a:solidFill>
              </a:rPr>
              <a:t>Salary varies across locations, education and 	seniority levels</a:t>
            </a:r>
            <a:r>
              <a:rPr lang="en-US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2696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D7E263-12DA-282E-05F0-D32C17B0B71B}"/>
              </a:ext>
            </a:extLst>
          </p:cNvPr>
          <p:cNvSpPr txBox="1"/>
          <p:nvPr/>
        </p:nvSpPr>
        <p:spPr>
          <a:xfrm>
            <a:off x="2703871" y="440226"/>
            <a:ext cx="43138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Arial Black" panose="020B0A04020102020204" pitchFamily="34" charset="0"/>
              </a:rPr>
              <a:t>RECOMMENDATIONS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9D94B1-84E3-81FE-EE8A-78AAD76999E1}"/>
              </a:ext>
            </a:extLst>
          </p:cNvPr>
          <p:cNvSpPr txBox="1"/>
          <p:nvPr/>
        </p:nvSpPr>
        <p:spPr>
          <a:xfrm>
            <a:off x="441425" y="1342384"/>
            <a:ext cx="6105832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For Job Seekers</a:t>
            </a:r>
          </a:p>
          <a:p>
            <a:pPr>
              <a:buNone/>
            </a:pPr>
            <a:endParaRPr lang="en-US" b="1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1" dirty="0"/>
              <a:t>	</a:t>
            </a:r>
            <a:r>
              <a:rPr lang="en-US" b="1" dirty="0">
                <a:solidFill>
                  <a:srgbClr val="FFFF00"/>
                </a:solidFill>
              </a:rPr>
              <a:t>Build Strong Technical Skills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	Python + SQL + Excel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FF00"/>
                </a:solidFill>
              </a:rPr>
              <a:t>	Develop Cloud Skills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	AWS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FF00"/>
                </a:solidFill>
              </a:rPr>
              <a:t>	Learn Big Data Technologies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	Spark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rgbClr val="FFFF0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FF00"/>
                </a:solidFill>
              </a:rPr>
              <a:t>	Consider Location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	Compare job demand and </a:t>
            </a:r>
            <a:r>
              <a:rPr lang="en-IN" dirty="0">
                <a:solidFill>
                  <a:srgbClr val="FFFF00"/>
                </a:solidFill>
              </a:rPr>
              <a:t>salaries across locations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F2470B-77B7-6235-8C28-13D915233D99}"/>
              </a:ext>
            </a:extLst>
          </p:cNvPr>
          <p:cNvSpPr txBox="1"/>
          <p:nvPr/>
        </p:nvSpPr>
        <p:spPr>
          <a:xfrm>
            <a:off x="5871169" y="1342384"/>
            <a:ext cx="4142481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For Employers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FF00"/>
                </a:solidFill>
              </a:rPr>
              <a:t>Clearly define required skills 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FF00"/>
                </a:solidFill>
              </a:rPr>
              <a:t>Monitor market salary levels 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FF00"/>
                </a:solidFill>
              </a:rPr>
              <a:t>Develop internal talent 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AC0AD7-E034-45E6-19D8-0E34CDE4A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257" y="3429000"/>
            <a:ext cx="4925499" cy="328366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35502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06B56D-A39E-0C5D-CA0C-E8C13A411880}"/>
              </a:ext>
            </a:extLst>
          </p:cNvPr>
          <p:cNvSpPr txBox="1"/>
          <p:nvPr/>
        </p:nvSpPr>
        <p:spPr>
          <a:xfrm>
            <a:off x="4296697" y="698091"/>
            <a:ext cx="32501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86738D-711F-410A-467F-0C26A9A0E8BB}"/>
              </a:ext>
            </a:extLst>
          </p:cNvPr>
          <p:cNvSpPr txBox="1"/>
          <p:nvPr/>
        </p:nvSpPr>
        <p:spPr>
          <a:xfrm>
            <a:off x="4587413" y="1750142"/>
            <a:ext cx="3017173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accent1">
                    <a:lumMod val="50000"/>
                  </a:schemeClr>
                </a:solidFill>
              </a:rPr>
              <a:t>Raw Data</a:t>
            </a:r>
          </a:p>
          <a:p>
            <a:pPr algn="ctr"/>
            <a:r>
              <a:rPr lang="en-IN" sz="2400" b="1" dirty="0">
                <a:solidFill>
                  <a:schemeClr val="accent1">
                    <a:lumMod val="50000"/>
                  </a:schemeClr>
                </a:solidFill>
              </a:rPr>
              <a:t>↓</a:t>
            </a:r>
          </a:p>
          <a:p>
            <a:pPr algn="ctr"/>
            <a:r>
              <a:rPr lang="en-IN" sz="2400" b="1" dirty="0">
                <a:solidFill>
                  <a:schemeClr val="accent1">
                    <a:lumMod val="50000"/>
                  </a:schemeClr>
                </a:solidFill>
              </a:rPr>
              <a:t>MySQL</a:t>
            </a:r>
          </a:p>
          <a:p>
            <a:pPr algn="ctr"/>
            <a:r>
              <a:rPr lang="en-IN" sz="2400" b="1" dirty="0">
                <a:solidFill>
                  <a:schemeClr val="accent1">
                    <a:lumMod val="50000"/>
                  </a:schemeClr>
                </a:solidFill>
              </a:rPr>
              <a:t>↓</a:t>
            </a:r>
          </a:p>
          <a:p>
            <a:pPr algn="ctr"/>
            <a:r>
              <a:rPr lang="en-IN" sz="2400" b="1" dirty="0">
                <a:solidFill>
                  <a:schemeClr val="accent1">
                    <a:lumMod val="50000"/>
                  </a:schemeClr>
                </a:solidFill>
              </a:rPr>
              <a:t>Python + Pandas</a:t>
            </a:r>
          </a:p>
          <a:p>
            <a:pPr algn="ctr"/>
            <a:r>
              <a:rPr lang="en-IN" sz="2400" b="1" dirty="0">
                <a:solidFill>
                  <a:schemeClr val="accent1">
                    <a:lumMod val="50000"/>
                  </a:schemeClr>
                </a:solidFill>
              </a:rPr>
              <a:t>↓</a:t>
            </a:r>
          </a:p>
          <a:p>
            <a:pPr algn="ctr"/>
            <a:r>
              <a:rPr lang="en-IN" sz="2400" b="1" dirty="0">
                <a:solidFill>
                  <a:schemeClr val="accent1">
                    <a:lumMod val="50000"/>
                  </a:schemeClr>
                </a:solidFill>
              </a:rPr>
              <a:t>Power BI</a:t>
            </a:r>
          </a:p>
          <a:p>
            <a:pPr algn="ctr"/>
            <a:r>
              <a:rPr lang="en-IN" sz="2400" b="1" dirty="0">
                <a:solidFill>
                  <a:schemeClr val="accent1">
                    <a:lumMod val="50000"/>
                  </a:schemeClr>
                </a:solidFill>
              </a:rPr>
              <a:t>↓</a:t>
            </a:r>
          </a:p>
          <a:p>
            <a:pPr algn="ctr"/>
            <a:r>
              <a:rPr lang="en-IN" sz="2400" b="1" dirty="0">
                <a:solidFill>
                  <a:schemeClr val="accent1">
                    <a:lumMod val="50000"/>
                  </a:schemeClr>
                </a:solidFill>
              </a:rPr>
              <a:t>Actionable Insights</a:t>
            </a:r>
          </a:p>
          <a:p>
            <a:pPr algn="ctr"/>
            <a:endParaRPr lang="en-IN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B94237B-0C04-3705-D597-56A9F4E83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831" y="5790577"/>
            <a:ext cx="11085872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“Data becomes valuable when analysis turns it into meaningful decisions.”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66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8CDA70-8730-E216-1D44-1C48E177C8D5}"/>
              </a:ext>
            </a:extLst>
          </p:cNvPr>
          <p:cNvSpPr txBox="1"/>
          <p:nvPr/>
        </p:nvSpPr>
        <p:spPr>
          <a:xfrm>
            <a:off x="4424515" y="3136612"/>
            <a:ext cx="29380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  <a:latin typeface="Arial Black" panose="020B0A04020102020204" pitchFamily="34" charset="0"/>
              </a:rPr>
              <a:t>THANK YOU</a:t>
            </a:r>
            <a:endParaRPr lang="en-IN" sz="32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668036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nded Edge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777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1499</TotalTime>
  <Words>529</Words>
  <Application>Microsoft Office PowerPoint</Application>
  <PresentationFormat>Widescreen</PresentationFormat>
  <Paragraphs>133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Arial Black</vt:lpstr>
      <vt:lpstr>Calibri</vt:lpstr>
      <vt:lpstr>Century Gothic</vt:lpstr>
      <vt:lpstr>Segoe UI Black</vt:lpstr>
      <vt:lpstr>Wingdings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almubeen8438@outlook.com</dc:creator>
  <cp:lastModifiedBy>almubeen8438@outlook.com</cp:lastModifiedBy>
  <cp:revision>1</cp:revision>
  <dcterms:created xsi:type="dcterms:W3CDTF">2026-09-16T11:07:59Z</dcterms:created>
  <dcterms:modified xsi:type="dcterms:W3CDTF">2026-09-17T12:14:29Z</dcterms:modified>
</cp:coreProperties>
</file>